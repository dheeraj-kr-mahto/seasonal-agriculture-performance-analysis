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6" d="100"/>
          <a:sy n="96" d="100"/>
        </p:scale>
        <p:origin x="82"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24297" y="3429000"/>
            <a:ext cx="5584740" cy="861497"/>
          </a:xfrm>
        </p:spPr>
        <p:txBody>
          <a:bodyPr vert="horz" lIns="91440" tIns="45720" rIns="91440" bIns="45720" rtlCol="0" anchor="t">
            <a:noAutofit/>
          </a:bodyPr>
          <a:lstStyle/>
          <a:p>
            <a:pPr algn="r"/>
            <a:r>
              <a:rPr lang="en-US" sz="1800" dirty="0">
                <a:solidFill>
                  <a:schemeClr val="tx1"/>
                </a:solidFill>
              </a:rPr>
              <a:t>Student Name  - Dheeraj Kumar Mahto </a:t>
            </a:r>
            <a:endParaRPr lang="en-IN" sz="1800" dirty="0">
              <a:solidFill>
                <a:schemeClr val="tx1"/>
              </a:solidFill>
            </a:endParaRPr>
          </a:p>
          <a:p>
            <a:pPr algn="r"/>
            <a:r>
              <a:rPr lang="en-US" sz="1800" dirty="0">
                <a:solidFill>
                  <a:schemeClr val="tx1"/>
                </a:solidFill>
              </a:rPr>
              <a:t>     College Name - Amity University Jharkhand   </a:t>
            </a:r>
            <a:endParaRPr lang="en-IN" sz="18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54796" y="2709408"/>
            <a:ext cx="8899305" cy="743448"/>
          </a:xfrm>
        </p:spPr>
        <p:txBody>
          <a:bodyPr>
            <a:noAutofit/>
          </a:bodyPr>
          <a:lstStyle/>
          <a:p>
            <a:r>
              <a:rPr lang="en-GB" sz="2400" dirty="0"/>
              <a:t>Project Title -</a:t>
            </a:r>
            <a:r>
              <a:rPr lang="en-IN" sz="2400" dirty="0"/>
              <a:t>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04907"/>
            <a:ext cx="4596111" cy="646331"/>
          </a:xfrm>
          <a:prstGeom prst="rect">
            <a:avLst/>
          </a:prstGeom>
          <a:noFill/>
        </p:spPr>
        <p:txBody>
          <a:bodyPr wrap="square" rtlCol="0">
            <a:spAutoFit/>
          </a:bodyPr>
          <a:lstStyle/>
          <a:p>
            <a:r>
              <a:rPr lang="en-US" b="1" dirty="0"/>
              <a:t>AICTE STU ID : </a:t>
            </a:r>
          </a:p>
          <a:p>
            <a:r>
              <a:rPr lang="en-US" b="1" dirty="0"/>
              <a:t>( STU679618ca276c61737889994 )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749287"/>
            <a:ext cx="6431280" cy="4261899"/>
          </a:xfrm>
        </p:spPr>
        <p:txBody>
          <a:bodyPr vert="horz" lIns="91440" tIns="45720" rIns="91440" bIns="45720" rtlCol="0" anchor="t">
            <a:normAutofit fontScale="62500" lnSpcReduction="20000"/>
          </a:bodyPr>
          <a:lstStyle/>
          <a:p>
            <a:pPr>
              <a:lnSpc>
                <a:spcPct val="120000"/>
              </a:lnSpc>
            </a:pPr>
            <a:r>
              <a:rPr lang="en-IN" sz="2800" b="1"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b="1" dirty="0" err="1"/>
              <a:t>analyze</a:t>
            </a:r>
            <a:r>
              <a:rPr lang="en-IN" sz="2800" b="1"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2"/>
            <a:ext cx="6276109" cy="5859747"/>
          </a:xfrm>
        </p:spPr>
        <p:txBody>
          <a:bodyPr>
            <a:noAutofit/>
          </a:bodyPr>
          <a:lstStyle/>
          <a:p>
            <a:r>
              <a:rPr lang="en-GB" sz="1600" dirty="0"/>
              <a:t>Project Description:</a:t>
            </a:r>
            <a:br>
              <a:rPr lang="en-GB" sz="1600" dirty="0"/>
            </a:br>
            <a:br>
              <a:rPr lang="en-GB" sz="1600" dirty="0"/>
            </a:br>
            <a:r>
              <a:rPr lang="en-GB" sz="1600" dirty="0"/>
              <a:t>[ </a:t>
            </a:r>
            <a:r>
              <a:rPr lang="en-IN" sz="1600" dirty="0"/>
              <a:t>Seasonal Agriculture Performance Analysis is a data analytics project that </a:t>
            </a:r>
            <a:r>
              <a:rPr lang="en-IN" sz="1600" dirty="0" err="1"/>
              <a:t>analyzes</a:t>
            </a:r>
            <a:r>
              <a:rPr lang="en-IN" sz="1600" dirty="0"/>
              <a:t> agricultural activities across different seasons, geographical areas, and farming conditions. The project focuses on understanding how seasonal variations affect agricultural performance, including crop production, resource usage, environmental conditions, and economic outcomes. </a:t>
            </a:r>
            <a:br>
              <a:rPr lang="en-IN" sz="1600" dirty="0"/>
            </a:br>
            <a:br>
              <a:rPr lang="en-IN" sz="1600" dirty="0"/>
            </a:br>
            <a:r>
              <a:rPr lang="en-IN" sz="1600" dirty="0"/>
              <a:t>The project involves exploring, cleaning, and preparing the agricultural dataset, followed by </a:t>
            </a:r>
            <a:r>
              <a:rPr lang="en-IN" sz="1600" dirty="0" err="1"/>
              <a:t>analyzing</a:t>
            </a:r>
            <a:r>
              <a:rPr lang="en-IN" sz="1600" dirty="0"/>
              <a:t> seasonal patterns, trends, relationships, and differences in agricultural performance. Statistical and visualization techniques are used to identify significant observations and unusual patterns. </a:t>
            </a:r>
            <a:br>
              <a:rPr lang="en-IN" sz="1600" dirty="0"/>
            </a:br>
            <a:r>
              <a:rPr lang="en-IN" sz="1600" dirty="0"/>
              <a:t>The analysis also compares agricultural performance across different seasons and investigates relationships between seasonal environmental conditions, resource usage, and agricultural outcomes. Based on the findings, the project aims to provide data-driven insights and recommendations that can support better seasonal agricultural planning. </a:t>
            </a:r>
            <a:br>
              <a:rPr lang="en-IN" sz="1600" dirty="0"/>
            </a:br>
            <a:r>
              <a:rPr lang="en-GB" sz="1600" dirty="0"/>
              <a:t>] </a:t>
            </a:r>
            <a:br>
              <a:rPr lang="en-GB" sz="1600" dirty="0"/>
            </a:br>
            <a:endParaRPr lang="en-IN" sz="16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lnSpcReduction="20000"/>
          </a:bodyPr>
          <a:lstStyle/>
          <a:p>
            <a:pPr marL="0" indent="0">
              <a:buNone/>
            </a:pPr>
            <a:endParaRPr lang="en-IN" sz="3600" b="1" dirty="0"/>
          </a:p>
          <a:p>
            <a:pPr lvl="0"/>
            <a:r>
              <a:rPr lang="en-IN" sz="2800" b="1" dirty="0"/>
              <a:t>Farmers</a:t>
            </a:r>
            <a:r>
              <a:rPr lang="en-IN" sz="2800" dirty="0"/>
              <a:t> – to understand seasonal patterns and improve farming decisions. </a:t>
            </a:r>
          </a:p>
          <a:p>
            <a:pPr lvl="0"/>
            <a:r>
              <a:rPr lang="en-IN" sz="2800" b="1" dirty="0"/>
              <a:t>Agricultural planners</a:t>
            </a:r>
            <a:r>
              <a:rPr lang="en-IN" sz="2800" dirty="0"/>
              <a:t> – to support seasonal agricultural planning. </a:t>
            </a:r>
          </a:p>
          <a:p>
            <a:pPr lvl="0"/>
            <a:r>
              <a:rPr lang="en-IN" sz="2800" b="1" dirty="0"/>
              <a:t>Agricultural stakeholders</a:t>
            </a:r>
            <a:r>
              <a:rPr lang="en-IN" sz="2800" dirty="0"/>
              <a:t> – to understand performance, resource usage, and seasonal trends. </a:t>
            </a:r>
          </a:p>
          <a:p>
            <a:pPr lvl="0"/>
            <a:r>
              <a:rPr lang="en-IN" sz="2800" b="1" dirty="0"/>
              <a:t>Decision-makers</a:t>
            </a:r>
            <a:r>
              <a:rPr lang="en-IN" sz="2800" dirty="0"/>
              <a:t> – to make evidence-based decisions based on agricultural data.</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153944" y="1376900"/>
            <a:ext cx="9027702" cy="5243448"/>
          </a:xfrm>
        </p:spPr>
        <p:txBody>
          <a:bodyPr/>
          <a:lstStyle/>
          <a:p>
            <a:pPr lvl="0"/>
            <a:r>
              <a:rPr lang="en-IN" b="1" dirty="0"/>
              <a:t>Python</a:t>
            </a:r>
            <a:r>
              <a:rPr lang="en-IN" dirty="0"/>
              <a:t> </a:t>
            </a:r>
          </a:p>
          <a:p>
            <a:pPr lvl="0"/>
            <a:r>
              <a:rPr lang="en-IN" b="1" dirty="0"/>
              <a:t>Jupyter Notebook</a:t>
            </a:r>
            <a:r>
              <a:rPr lang="en-IN" dirty="0"/>
              <a:t> </a:t>
            </a:r>
          </a:p>
          <a:p>
            <a:pPr lvl="0"/>
            <a:r>
              <a:rPr lang="en-IN" b="1" dirty="0"/>
              <a:t>Pandas</a:t>
            </a:r>
            <a:r>
              <a:rPr lang="en-IN" dirty="0"/>
              <a:t> – data cleaning and analysis </a:t>
            </a:r>
          </a:p>
          <a:p>
            <a:pPr lvl="0"/>
            <a:r>
              <a:rPr lang="en-IN" b="1" dirty="0"/>
              <a:t>NumPy</a:t>
            </a:r>
            <a:r>
              <a:rPr lang="en-IN" dirty="0"/>
              <a:t> – numerical operations </a:t>
            </a:r>
          </a:p>
          <a:p>
            <a:pPr lvl="0"/>
            <a:r>
              <a:rPr lang="en-IN" b="1" dirty="0"/>
              <a:t>Matplotlib / Seaborn</a:t>
            </a:r>
            <a:r>
              <a:rPr lang="en-IN" dirty="0"/>
              <a:t> – data visualization </a:t>
            </a:r>
          </a:p>
          <a:p>
            <a:pPr lvl="0"/>
            <a:r>
              <a:rPr lang="en-IN" b="1" dirty="0"/>
              <a:t>Statistical analysis techniques</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8" y="193040"/>
            <a:ext cx="2623834" cy="753165"/>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E7A3142-5521-DE3C-39AA-F2A0A1FADAA9}"/>
              </a:ext>
            </a:extLst>
          </p:cNvPr>
          <p:cNvPicPr>
            <a:picLocks noChangeAspect="1"/>
          </p:cNvPicPr>
          <p:nvPr/>
        </p:nvPicPr>
        <p:blipFill>
          <a:blip r:embed="rId3"/>
          <a:stretch>
            <a:fillRect/>
          </a:stretch>
        </p:blipFill>
        <p:spPr>
          <a:xfrm>
            <a:off x="151074" y="946205"/>
            <a:ext cx="5030691" cy="2803648"/>
          </a:xfrm>
          <a:prstGeom prst="rect">
            <a:avLst/>
          </a:prstGeom>
        </p:spPr>
      </p:pic>
      <p:sp>
        <p:nvSpPr>
          <p:cNvPr id="11" name="TextBox 10">
            <a:extLst>
              <a:ext uri="{FF2B5EF4-FFF2-40B4-BE49-F238E27FC236}">
                <a16:creationId xmlns:a16="http://schemas.microsoft.com/office/drawing/2014/main" id="{CFA951D8-0C00-04DA-B435-1E798C21607A}"/>
              </a:ext>
            </a:extLst>
          </p:cNvPr>
          <p:cNvSpPr txBox="1"/>
          <p:nvPr/>
        </p:nvSpPr>
        <p:spPr>
          <a:xfrm>
            <a:off x="604395" y="3818225"/>
            <a:ext cx="8054575" cy="2739211"/>
          </a:xfrm>
          <a:prstGeom prst="rect">
            <a:avLst/>
          </a:prstGeom>
          <a:noFill/>
        </p:spPr>
        <p:txBody>
          <a:bodyPr wrap="square" rtlCol="0">
            <a:spAutoFit/>
          </a:bodyPr>
          <a:lstStyle/>
          <a:p>
            <a:r>
              <a:rPr lang="en-IN" b="1" u="sng" dirty="0"/>
              <a:t>Result – Distribution of Records by Season</a:t>
            </a:r>
          </a:p>
          <a:p>
            <a:endParaRPr lang="en-IN" dirty="0"/>
          </a:p>
          <a:p>
            <a:r>
              <a:rPr lang="en-IN" b="1" dirty="0"/>
              <a:t>“</a:t>
            </a:r>
            <a:r>
              <a:rPr lang="en-IN" sz="1600" b="1" dirty="0"/>
              <a:t>This bar chart shows the distribution of records across the three agricultural seasons. Kharif has the highest number of records, with around 1,780 records. Rabi has around 1,620 records, while Zaid has the lowest, with around 560 records. Therefore, the dataset contains much more information about Kharif and Rabi compared to Zaid.”</a:t>
            </a:r>
          </a:p>
          <a:p>
            <a:endParaRPr lang="en-IN" sz="1600" dirty="0"/>
          </a:p>
          <a:p>
            <a:r>
              <a:rPr lang="en-IN" b="1" dirty="0"/>
              <a:t>Main result:</a:t>
            </a:r>
            <a:r>
              <a:rPr lang="en-IN" dirty="0"/>
              <a:t> Kharif &gt; Rabi &gt; Zaid in number of records.</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01940" y="193041"/>
            <a:ext cx="2662679" cy="745214"/>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8269A25-DBBB-9B01-52B1-2278E4686477}"/>
              </a:ext>
            </a:extLst>
          </p:cNvPr>
          <p:cNvPicPr>
            <a:picLocks noChangeAspect="1"/>
          </p:cNvPicPr>
          <p:nvPr/>
        </p:nvPicPr>
        <p:blipFill>
          <a:blip r:embed="rId3"/>
          <a:stretch>
            <a:fillRect/>
          </a:stretch>
        </p:blipFill>
        <p:spPr>
          <a:xfrm>
            <a:off x="501940" y="938255"/>
            <a:ext cx="4483528" cy="3912041"/>
          </a:xfrm>
          <a:prstGeom prst="rect">
            <a:avLst/>
          </a:prstGeom>
        </p:spPr>
      </p:pic>
      <p:sp>
        <p:nvSpPr>
          <p:cNvPr id="11" name="TextBox 10">
            <a:extLst>
              <a:ext uri="{FF2B5EF4-FFF2-40B4-BE49-F238E27FC236}">
                <a16:creationId xmlns:a16="http://schemas.microsoft.com/office/drawing/2014/main" id="{47D171A2-56F0-42E0-AAF1-CB8F20A5CEC8}"/>
              </a:ext>
            </a:extLst>
          </p:cNvPr>
          <p:cNvSpPr txBox="1"/>
          <p:nvPr/>
        </p:nvSpPr>
        <p:spPr>
          <a:xfrm>
            <a:off x="320982" y="4230094"/>
            <a:ext cx="9363707" cy="2585323"/>
          </a:xfrm>
          <a:prstGeom prst="rect">
            <a:avLst/>
          </a:prstGeom>
          <a:noFill/>
        </p:spPr>
        <p:txBody>
          <a:bodyPr wrap="square" rtlCol="0">
            <a:spAutoFit/>
          </a:bodyPr>
          <a:lstStyle/>
          <a:p>
            <a:endParaRPr lang="en-IN" b="1" dirty="0"/>
          </a:p>
          <a:p>
            <a:r>
              <a:rPr lang="en-IN" b="1" u="sng" dirty="0"/>
              <a:t>Result – Season Distribution (Pie Chart)</a:t>
            </a:r>
          </a:p>
          <a:p>
            <a:endParaRPr lang="en-IN" b="1" u="sng" dirty="0"/>
          </a:p>
          <a:p>
            <a:r>
              <a:rPr lang="en-IN" dirty="0"/>
              <a:t>This pie chart shows the percentage distribution of records across the three seasons. Kharif has the largest share with 44.5%, followed by Rabi with about 40.7%, while Zaid has the smallest share with 14.8%. This shows that most of the data belongs to the Kharif and Rabi seasons.”</a:t>
            </a:r>
          </a:p>
          <a:p>
            <a:r>
              <a:rPr lang="en-IN" dirty="0"/>
              <a:t>Main result: Kharif 44.5% &gt; Rabi 40.7% &gt; Zaid 14.8%.</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445370" y="107038"/>
            <a:ext cx="2862373" cy="767606"/>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6C87A8C-A14B-FA15-1CF8-7AF1592E386D}"/>
              </a:ext>
            </a:extLst>
          </p:cNvPr>
          <p:cNvPicPr>
            <a:picLocks noChangeAspect="1"/>
          </p:cNvPicPr>
          <p:nvPr/>
        </p:nvPicPr>
        <p:blipFill>
          <a:blip r:embed="rId3"/>
          <a:stretch>
            <a:fillRect/>
          </a:stretch>
        </p:blipFill>
        <p:spPr>
          <a:xfrm>
            <a:off x="445370" y="763210"/>
            <a:ext cx="6774511" cy="3156783"/>
          </a:xfrm>
          <a:prstGeom prst="rect">
            <a:avLst/>
          </a:prstGeom>
        </p:spPr>
      </p:pic>
      <p:sp>
        <p:nvSpPr>
          <p:cNvPr id="11" name="TextBox 10">
            <a:extLst>
              <a:ext uri="{FF2B5EF4-FFF2-40B4-BE49-F238E27FC236}">
                <a16:creationId xmlns:a16="http://schemas.microsoft.com/office/drawing/2014/main" id="{42CD6129-E6DA-B97C-BBDF-CE397822671B}"/>
              </a:ext>
            </a:extLst>
          </p:cNvPr>
          <p:cNvSpPr txBox="1"/>
          <p:nvPr/>
        </p:nvSpPr>
        <p:spPr>
          <a:xfrm>
            <a:off x="675957" y="3919993"/>
            <a:ext cx="8181796" cy="2308324"/>
          </a:xfrm>
          <a:prstGeom prst="rect">
            <a:avLst/>
          </a:prstGeom>
          <a:noFill/>
        </p:spPr>
        <p:txBody>
          <a:bodyPr wrap="square" rtlCol="0">
            <a:spAutoFit/>
          </a:bodyPr>
          <a:lstStyle/>
          <a:p>
            <a:r>
              <a:rPr lang="en-IN" b="1" u="sng" dirty="0"/>
              <a:t>Result – Distribution of Rainfall</a:t>
            </a:r>
          </a:p>
          <a:p>
            <a:endParaRPr lang="en-IN" b="1" u="sng" dirty="0"/>
          </a:p>
          <a:p>
            <a:r>
              <a:rPr lang="en-IN" dirty="0"/>
              <a:t>This histogram shows how rainfall is distributed in the dataset. Most of the observations are concentrated between approximately 300 and 900 mm. The highest frequency is around 500–600 mm. After around 900 mm, the frequency gradually decreases, and very high rainfall values above 1,200 mm are less common.</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389711" y="193041"/>
            <a:ext cx="2520466" cy="66607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A148B7A-E497-C2A9-93DF-F4B89E975739}"/>
              </a:ext>
            </a:extLst>
          </p:cNvPr>
          <p:cNvPicPr>
            <a:picLocks noChangeAspect="1"/>
          </p:cNvPicPr>
          <p:nvPr/>
        </p:nvPicPr>
        <p:blipFill>
          <a:blip r:embed="rId3"/>
          <a:stretch>
            <a:fillRect/>
          </a:stretch>
        </p:blipFill>
        <p:spPr>
          <a:xfrm>
            <a:off x="389711" y="859120"/>
            <a:ext cx="7299544" cy="3156290"/>
          </a:xfrm>
          <a:prstGeom prst="rect">
            <a:avLst/>
          </a:prstGeom>
        </p:spPr>
      </p:pic>
      <p:sp>
        <p:nvSpPr>
          <p:cNvPr id="11" name="TextBox 10">
            <a:extLst>
              <a:ext uri="{FF2B5EF4-FFF2-40B4-BE49-F238E27FC236}">
                <a16:creationId xmlns:a16="http://schemas.microsoft.com/office/drawing/2014/main" id="{36F35543-BB21-22AA-4B8F-8B35C3EFD422}"/>
              </a:ext>
            </a:extLst>
          </p:cNvPr>
          <p:cNvSpPr txBox="1"/>
          <p:nvPr/>
        </p:nvSpPr>
        <p:spPr>
          <a:xfrm>
            <a:off x="389711" y="4293704"/>
            <a:ext cx="9676640" cy="2031325"/>
          </a:xfrm>
          <a:prstGeom prst="rect">
            <a:avLst/>
          </a:prstGeom>
          <a:noFill/>
        </p:spPr>
        <p:txBody>
          <a:bodyPr wrap="square" rtlCol="0">
            <a:spAutoFit/>
          </a:bodyPr>
          <a:lstStyle/>
          <a:p>
            <a:r>
              <a:rPr lang="en-IN" b="1" u="sng" dirty="0"/>
              <a:t>Result – Yield Distribution Across Seasons</a:t>
            </a:r>
          </a:p>
          <a:p>
            <a:endParaRPr lang="en-IN" b="1" u="sng" dirty="0"/>
          </a:p>
          <a:p>
            <a:r>
              <a:rPr lang="en-IN" dirty="0"/>
              <a:t>This box plot compares agricultural yield across Kharif, Rabi, and Zaid seasons. Kharif has the highest overall yield distribution, followed by Rabi, while Zaid has the lowest. We can also see many points above the main boxes, which indicate unusually high yield values or potential outliers. Overall, the result suggests that yield performance is stronger in Kharif and Rabi than in Zaid.</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320982" y="163574"/>
            <a:ext cx="2827735" cy="66607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E320338-D5CE-02A0-BAEE-1F893E550E05}"/>
              </a:ext>
            </a:extLst>
          </p:cNvPr>
          <p:cNvPicPr>
            <a:picLocks noChangeAspect="1"/>
          </p:cNvPicPr>
          <p:nvPr/>
        </p:nvPicPr>
        <p:blipFill>
          <a:blip r:embed="rId3"/>
          <a:stretch>
            <a:fillRect/>
          </a:stretch>
        </p:blipFill>
        <p:spPr>
          <a:xfrm>
            <a:off x="320982" y="829653"/>
            <a:ext cx="6986267" cy="3169854"/>
          </a:xfrm>
          <a:prstGeom prst="rect">
            <a:avLst/>
          </a:prstGeom>
        </p:spPr>
      </p:pic>
      <p:sp>
        <p:nvSpPr>
          <p:cNvPr id="12" name="TextBox 11">
            <a:extLst>
              <a:ext uri="{FF2B5EF4-FFF2-40B4-BE49-F238E27FC236}">
                <a16:creationId xmlns:a16="http://schemas.microsoft.com/office/drawing/2014/main" id="{1A1EE0E5-CE46-56B3-CCEC-32A0C0DB7520}"/>
              </a:ext>
            </a:extLst>
          </p:cNvPr>
          <p:cNvSpPr txBox="1"/>
          <p:nvPr/>
        </p:nvSpPr>
        <p:spPr>
          <a:xfrm>
            <a:off x="413468" y="3943847"/>
            <a:ext cx="9136049" cy="2308324"/>
          </a:xfrm>
          <a:prstGeom prst="rect">
            <a:avLst/>
          </a:prstGeom>
          <a:noFill/>
        </p:spPr>
        <p:txBody>
          <a:bodyPr wrap="square" rtlCol="0">
            <a:spAutoFit/>
          </a:bodyPr>
          <a:lstStyle/>
          <a:p>
            <a:r>
              <a:rPr lang="en-IN" b="1" u="sng" dirty="0"/>
              <a:t>Result – Rainfall vs Agricultural Yield</a:t>
            </a:r>
          </a:p>
          <a:p>
            <a:endParaRPr lang="en-IN" b="1" dirty="0"/>
          </a:p>
          <a:p>
            <a:r>
              <a:rPr lang="en-IN" dirty="0"/>
              <a:t>This scatter plot shows the relationship between rainfall and agricultural yield. The points are widely scattered, so there is no clear strong relationship between rainfall and yield. Although some higher yields are seen at moderate to higher rainfall levels, increasing rainfall does not consistently increase yield. This suggests that other factors, such as crop type, irrigation, soil, and farming practices, may also have an important impact on yield.</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7916A51-047B-8D1B-E8AC-0F7269B59ED5}"/>
              </a:ext>
            </a:extLst>
          </p:cNvPr>
          <p:cNvSpPr txBox="1"/>
          <p:nvPr/>
        </p:nvSpPr>
        <p:spPr>
          <a:xfrm>
            <a:off x="848802" y="1201586"/>
            <a:ext cx="6102626" cy="3970318"/>
          </a:xfrm>
          <a:prstGeom prst="rect">
            <a:avLst/>
          </a:prstGeom>
          <a:noFill/>
        </p:spPr>
        <p:txBody>
          <a:bodyPr wrap="square">
            <a:spAutoFit/>
          </a:bodyPr>
          <a:lstStyle/>
          <a:p>
            <a:pPr marL="342900" lvl="0" indent="-342900">
              <a:buFont typeface="Arial" panose="020B0604020202020204" pitchFamily="34" charset="0"/>
              <a:buChar char="•"/>
            </a:pPr>
            <a:r>
              <a:rPr lang="en-IN" b="1" dirty="0" err="1"/>
              <a:t>Analyze</a:t>
            </a:r>
            <a:r>
              <a:rPr lang="en-IN" b="1" dirty="0"/>
              <a:t> larger agricultural datasets.</a:t>
            </a:r>
            <a:r>
              <a:rPr lang="en-IN" dirty="0"/>
              <a:t> </a:t>
            </a:r>
          </a:p>
          <a:p>
            <a:pPr marL="342900" lvl="0" indent="-342900">
              <a:buFont typeface="Arial" panose="020B0604020202020204" pitchFamily="34" charset="0"/>
              <a:buChar char="•"/>
            </a:pPr>
            <a:r>
              <a:rPr lang="en-IN" b="1" dirty="0"/>
              <a:t>Include data from more regions and seasons.</a:t>
            </a:r>
            <a:r>
              <a:rPr lang="en-IN" dirty="0"/>
              <a:t> </a:t>
            </a:r>
          </a:p>
          <a:p>
            <a:pPr marL="342900" lvl="0" indent="-342900">
              <a:buFont typeface="Arial" panose="020B0604020202020204" pitchFamily="34" charset="0"/>
              <a:buChar char="•"/>
            </a:pPr>
            <a:r>
              <a:rPr lang="en-IN" b="1" dirty="0"/>
              <a:t>Apply advanced statistical techniques</a:t>
            </a:r>
            <a:r>
              <a:rPr lang="en-IN" dirty="0"/>
              <a:t> to identify deeper patterns. </a:t>
            </a:r>
          </a:p>
          <a:p>
            <a:pPr marL="342900" lvl="0" indent="-342900">
              <a:buFont typeface="Arial" panose="020B0604020202020204" pitchFamily="34" charset="0"/>
              <a:buChar char="•"/>
            </a:pPr>
            <a:r>
              <a:rPr lang="en-IN" b="1" dirty="0"/>
              <a:t>Use machine learning</a:t>
            </a:r>
            <a:r>
              <a:rPr lang="en-IN" dirty="0"/>
              <a:t> to predict agricultural performance. </a:t>
            </a:r>
          </a:p>
          <a:p>
            <a:pPr marL="342900" lvl="0" indent="-342900">
              <a:buFont typeface="Arial" panose="020B0604020202020204" pitchFamily="34" charset="0"/>
              <a:buChar char="•"/>
            </a:pPr>
            <a:r>
              <a:rPr lang="en-IN" b="1" dirty="0"/>
              <a:t>Develop interactive dashboards</a:t>
            </a:r>
            <a:r>
              <a:rPr lang="en-IN" dirty="0"/>
              <a:t> for easier data visualization. </a:t>
            </a:r>
          </a:p>
          <a:p>
            <a:pPr marL="342900" lvl="0" indent="-342900">
              <a:buFont typeface="Arial" panose="020B0604020202020204" pitchFamily="34" charset="0"/>
              <a:buChar char="•"/>
            </a:pPr>
            <a:r>
              <a:rPr lang="en-IN" b="1" dirty="0"/>
              <a:t>Identify future seasonal trends</a:t>
            </a:r>
            <a:r>
              <a:rPr lang="en-IN" dirty="0"/>
              <a:t> and unusual patterns. </a:t>
            </a:r>
          </a:p>
          <a:p>
            <a:pPr marL="342900" lvl="0" indent="-342900">
              <a:buFont typeface="Arial" panose="020B0604020202020204" pitchFamily="34" charset="0"/>
              <a:buChar char="•"/>
            </a:pPr>
            <a:r>
              <a:rPr lang="en-IN" b="1" dirty="0"/>
              <a:t>Improve agricultural planning</a:t>
            </a:r>
            <a:r>
              <a:rPr lang="en-IN" dirty="0"/>
              <a:t> using data-driven insights. </a:t>
            </a:r>
          </a:p>
          <a:p>
            <a:pPr marL="342900" lvl="0" indent="-342900">
              <a:buFont typeface="Arial" panose="020B0604020202020204" pitchFamily="34" charset="0"/>
              <a:buChar char="•"/>
            </a:pPr>
            <a:r>
              <a:rPr lang="en-IN" b="1" dirty="0"/>
              <a:t>Provide better recommendations</a:t>
            </a:r>
            <a:r>
              <a:rPr lang="en-IN" dirty="0"/>
              <a:t> for farmers and agricultural planners.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8DEBF28C-83F3-A1DA-148F-437C778F1B34}"/>
              </a:ext>
            </a:extLst>
          </p:cNvPr>
          <p:cNvPicPr>
            <a:picLocks noChangeAspect="1"/>
          </p:cNvPicPr>
          <p:nvPr/>
        </p:nvPicPr>
        <p:blipFill>
          <a:blip r:embed="rId3"/>
          <a:stretch>
            <a:fillRect/>
          </a:stretch>
        </p:blipFill>
        <p:spPr>
          <a:xfrm>
            <a:off x="930303" y="2083590"/>
            <a:ext cx="6202362" cy="438833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623</TotalTime>
  <Words>810</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 Seasonal Agriculture Performance Analysis is a data analytics project that analyzes agricultural activities across different seasons, geographical areas, and farming conditions. The project focuses on understanding how seasonal variations affect agricultural performance, including crop production, resource usage, environmental conditions, and economic outcomes.   The project involves exploring, cleaning, and preparing the agricultural dataset, followed by analyzing seasonal patterns, trends, relationships, and differences in agricultural performance. Statistical and visualization techniques are used to identify significant observations and unusual patterns.  The analysis also compares agricultural performance across different seasons and investigates relationships between seasonal environmental conditions, resource usage, and agricultural outcomes. Based on the findings, the project aims to provide data-driven insights and recommendations that can support better seasonal agricultural planning.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Dheeraj Kumar</cp:lastModifiedBy>
  <cp:revision>105</cp:revision>
  <dcterms:created xsi:type="dcterms:W3CDTF">2021-07-11T13:13:15Z</dcterms:created>
  <dcterms:modified xsi:type="dcterms:W3CDTF">2026-09-14T16:32:09Z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